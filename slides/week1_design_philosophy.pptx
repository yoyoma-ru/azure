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463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 入門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85800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— 製品の存在理由と設計思想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3200400"/>
            <a:ext cx="5943600" cy="0"/>
          </a:xfrm>
          <a:prstGeom prst="line">
            <a:avLst/>
          </a:prstGeom>
          <a:noFill/>
          <a:ln w="19050">
            <a:solidFill>
              <a:srgbClr val="007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429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B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1a  |  学習プラン Week 1 / 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78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091FF">
              <a:alpha val="30000"/>
            </a:srgbClr>
          </a:solidFill>
          <a:ln w="12700">
            <a:solidFill>
              <a:srgbClr val="009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005BA1">
              <a:alpha val="40000"/>
            </a:srgbClr>
          </a:solidFill>
          <a:ln w="12700">
            <a:solidFill>
              <a:srgbClr val="005BA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058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7132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 Azure AI Search が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必要なのか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85800" y="32004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9E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「データベースで検索する」ことの限界から考える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8F4FE"/>
          </a:solidFill>
          <a:ln w="12700">
            <a:solidFill>
              <a:srgbClr val="E8F4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データベースは「検索」が苦手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の LIKE 句での試み：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documents WHERE content LIKE '%コスト削減%'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2651760"/>
        </p:xfrm>
        <a:graphic>
          <a:graphicData uri="http://schemas.openxmlformats.org/drawingml/2006/table">
            <a:tbl>
              <a:tblPr/>
              <a:tblGrid>
                <a:gridCol w="2103120"/>
                <a:gridCol w="612648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問題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説明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8D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語彙不一致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「費用低減」「コストカット」はヒットしない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全行スキャン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文書が増えるほど遅くなる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0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ランキング不可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「どれが一番関連性が高いか」を判断できない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8F4FE"/>
          </a:solidFill>
          <a:ln w="12700">
            <a:solidFill>
              <a:srgbClr val="E8F4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0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転置インデックスとは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3794760" cy="365760"/>
          </a:xfrm>
          <a:prstGeom prst="rect">
            <a:avLst/>
          </a:prstGeom>
          <a:solidFill>
            <a:srgbClr val="605E5C"/>
          </a:solidFill>
          <a:ln w="12700">
            <a:solidFill>
              <a:srgbClr val="605E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通常のインデックス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25880"/>
          <a:ext cx="3794760" cy="1417320"/>
        </p:xfrm>
        <a:graphic>
          <a:graphicData uri="http://schemas.openxmlformats.org/drawingml/2006/table">
            <a:tbl>
              <a:tblPr/>
              <a:tblGrid>
                <a:gridCol w="1280160"/>
                <a:gridCol w="25146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含まれる単語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文書1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コスト、削減、品質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文書2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コスト、品質、改善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206240" y="187452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4160520" y="22860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逆引き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0" y="960120"/>
            <a:ext cx="3794760" cy="3657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0" y="9601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転置インデックス（逆引き）</a:t>
            </a:r>
            <a:endParaRPr lang="en-US" sz="13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325880"/>
          <a:ext cx="3794760" cy="1892808"/>
        </p:xfrm>
        <a:graphic>
          <a:graphicData uri="http://schemas.openxmlformats.org/drawingml/2006/table">
            <a:tbl>
              <a:tblPr/>
              <a:tblGrid>
                <a:gridCol w="1280160"/>
                <a:gridCol w="25146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単語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A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含まれる文書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BA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コスト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文書1, 文書2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削減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文書1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品質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文書1, 文書2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320040" y="3474720"/>
            <a:ext cx="8503920" cy="685800"/>
          </a:xfrm>
          <a:prstGeom prst="rect">
            <a:avLst/>
          </a:prstGeom>
          <a:solidFill>
            <a:srgbClr val="FFF4CE"/>
          </a:solidFill>
          <a:ln w="12700">
            <a:solidFill>
              <a:srgbClr val="F0BC3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20040" y="347472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「コスト削減」で検索　→　コストと削減の両方に含まれる 文書1 が上位にくる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8F4FE"/>
          </a:solidFill>
          <a:ln w="12700">
            <a:solidFill>
              <a:srgbClr val="E8F4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0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関連度ランキングの仕組み：BM25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11480" y="8686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BM25（Best Match 25）— Azure AI Search が使うスコアリングアルゴリズム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2834640" cy="2423160"/>
          </a:xfrm>
          <a:prstGeom prst="rect">
            <a:avLst/>
          </a:prstGeom>
          <a:solidFill>
            <a:srgbClr val="EFF6FF"/>
          </a:solidFill>
          <a:ln w="19050">
            <a:solidFill>
              <a:srgbClr val="BDD7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98448"/>
            <a:ext cx="283464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417320"/>
            <a:ext cx="2615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TF（Term Frequency）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2084832"/>
            <a:ext cx="2615184" cy="0"/>
          </a:xfrm>
          <a:prstGeom prst="line">
            <a:avLst/>
          </a:prstGeom>
          <a:noFill/>
          <a:ln w="9525">
            <a:solidFill>
              <a:srgbClr val="BDD7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130552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出現頻度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2496312"/>
            <a:ext cx="26151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文書内の出現頻度が高いほど高スコア。ただし逓減する（10回は2回の5倍ではない）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298448"/>
            <a:ext cx="2834640" cy="2423160"/>
          </a:xfrm>
          <a:prstGeom prst="rect">
            <a:avLst/>
          </a:prstGeom>
          <a:solidFill>
            <a:srgbClr val="EFF6FF"/>
          </a:solidFill>
          <a:ln w="19050">
            <a:solidFill>
              <a:srgbClr val="BDD7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298448"/>
            <a:ext cx="283464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1417320"/>
            <a:ext cx="2615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（Inverse Document Frequency）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55848" y="2084832"/>
            <a:ext cx="2615184" cy="0"/>
          </a:xfrm>
          <a:prstGeom prst="line">
            <a:avLst/>
          </a:prstGeom>
          <a:noFill/>
          <a:ln w="9525">
            <a:solidFill>
              <a:srgbClr val="BDD7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2130552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希少度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55848" y="2496312"/>
            <a:ext cx="26151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「コスト」は多くの文書に出現 → 低スコア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「HNSW」はほぼ出現しない → 高スコア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1298448"/>
            <a:ext cx="2834640" cy="2423160"/>
          </a:xfrm>
          <a:prstGeom prst="rect">
            <a:avLst/>
          </a:prstGeom>
          <a:solidFill>
            <a:srgbClr val="EFF6FF"/>
          </a:solidFill>
          <a:ln w="19050">
            <a:solidFill>
              <a:srgbClr val="BDD7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0" y="1298448"/>
            <a:ext cx="283464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7648" y="1417320"/>
            <a:ext cx="2615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フィールド長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正規化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27648" y="2084832"/>
            <a:ext cx="2615184" cy="0"/>
          </a:xfrm>
          <a:prstGeom prst="line">
            <a:avLst/>
          </a:prstGeom>
          <a:noFill/>
          <a:ln w="9525">
            <a:solidFill>
              <a:srgbClr val="BDD7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27648" y="2130552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位置の重み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27648" y="2496312"/>
            <a:ext cx="26151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短いタイトルでの出現は、長い本文での出現より重い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858768"/>
            <a:ext cx="8503920" cy="658368"/>
          </a:xfrm>
          <a:prstGeom prst="rect">
            <a:avLst/>
          </a:prstGeom>
          <a:solidFill>
            <a:srgbClr val="E8F4F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85876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 3 つのバランスで「最も関連性の高い文書」を順位付けする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8F4FE"/>
          </a:solidFill>
          <a:ln w="12700">
            <a:solidFill>
              <a:srgbClr val="E8F4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0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 の設計思想：関心の分離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11480" y="8686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データの「保管」と「検索」は、別のシステムが担当する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2743200" cy="2148840"/>
          </a:xfrm>
          <a:prstGeom prst="rect">
            <a:avLst/>
          </a:prstGeom>
          <a:solidFill>
            <a:srgbClr val="F3F3F3"/>
          </a:solidFill>
          <a:ln w="19050">
            <a:solidFill>
              <a:srgbClr val="C8C6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417320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元データ（正本）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7472" y="1920240"/>
            <a:ext cx="2596896" cy="0"/>
          </a:xfrm>
          <a:prstGeom prst="line">
            <a:avLst/>
          </a:prstGeom>
          <a:noFill/>
          <a:ln w="9525">
            <a:solidFill>
              <a:srgbClr val="C8C6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984248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Storage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2350008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" y="2715768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Cosmos DB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1325880"/>
            <a:ext cx="2743200" cy="2148840"/>
          </a:xfrm>
          <a:prstGeom prst="rect">
            <a:avLst/>
          </a:prstGeom>
          <a:solidFill>
            <a:srgbClr val="EFF6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3552" y="1417320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273552" y="1920240"/>
            <a:ext cx="2596896" cy="0"/>
          </a:xfrm>
          <a:prstGeom prst="line">
            <a:avLst/>
          </a:prstGeom>
          <a:noFill/>
          <a:ln w="9525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73552" y="1984248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検索インデックス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73552" y="2350008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（派生・最適化された表現）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73552" y="2715768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元データの正本ではない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325880"/>
            <a:ext cx="2743200" cy="2148840"/>
          </a:xfrm>
          <a:prstGeom prst="rect">
            <a:avLst/>
          </a:prstGeom>
          <a:solidFill>
            <a:srgbClr val="F3F3F3"/>
          </a:solidFill>
          <a:ln w="19050">
            <a:solidFill>
              <a:srgbClr val="C8C6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9632" y="1417320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アプリケーション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99632" y="1920240"/>
            <a:ext cx="2596896" cy="0"/>
          </a:xfrm>
          <a:prstGeom prst="line">
            <a:avLst/>
          </a:prstGeom>
          <a:noFill/>
          <a:ln w="9525">
            <a:solidFill>
              <a:srgbClr val="C8C6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1984248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99632" y="2350008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99632" y="2715768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Management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63240" y="21488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989320" y="21488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320040" y="3657600"/>
            <a:ext cx="8503920" cy="868680"/>
          </a:xfrm>
          <a:prstGeom prst="rect">
            <a:avLst/>
          </a:prstGeom>
          <a:solidFill>
            <a:srgbClr val="003A6B"/>
          </a:solidFill>
          <a:ln w="12700">
            <a:solidFill>
              <a:srgbClr val="00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65760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 はシステムオブレコードではない  —  検索に特化したコピーを保持する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8F4FE"/>
          </a:solidFill>
          <a:ln w="12700">
            <a:solidFill>
              <a:srgbClr val="E8F4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0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エコシステムの中での位置づけ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2651760" cy="3977640"/>
          </a:xfrm>
          <a:prstGeom prst="rect">
            <a:avLst/>
          </a:prstGeom>
          <a:solidFill>
            <a:srgbClr val="F3F3F3"/>
          </a:solidFill>
          <a:ln w="19050">
            <a:solidFill>
              <a:srgbClr val="C8C6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914400"/>
            <a:ext cx="2651760" cy="438912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91440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データ層（上流）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4475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Blob Storage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0848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SQL Database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272491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Cosmos DB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914400"/>
            <a:ext cx="2651760" cy="3977640"/>
          </a:xfrm>
          <a:prstGeom prst="rect">
            <a:avLst/>
          </a:prstGeom>
          <a:solidFill>
            <a:srgbClr val="EFF6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914400"/>
            <a:ext cx="2651760" cy="43891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91440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処理・検索層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144475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20848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データ取り込み / クエリ応答 →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272491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Services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（OCR・翻訳・NER）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336499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Service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（Embedding 生成）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914400"/>
            <a:ext cx="2651760" cy="3977640"/>
          </a:xfrm>
          <a:prstGeom prst="rect">
            <a:avLst/>
          </a:prstGeom>
          <a:solidFill>
            <a:srgbClr val="F3F3F3"/>
          </a:solidFill>
          <a:ln w="19050">
            <a:solidFill>
              <a:srgbClr val="C8C6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914400"/>
            <a:ext cx="2651760" cy="438912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91440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アプリ層（下流）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144475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Service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208483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272491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Management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1752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080760" y="2560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8F4FE"/>
          </a:solidFill>
          <a:ln w="12700">
            <a:solidFill>
              <a:srgbClr val="E8F4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との組み合わせ：RAG とは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8686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— 検索と生成の組み合わせ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" y="1298448"/>
            <a:ext cx="5943600" cy="594360"/>
          </a:xfrm>
          <a:prstGeom prst="rect">
            <a:avLst/>
          </a:prstGeom>
          <a:solidFill>
            <a:srgbClr val="F3F3F3"/>
          </a:solidFill>
          <a:ln w="19050">
            <a:solidFill>
              <a:srgbClr val="C8C6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362456"/>
            <a:ext cx="475488" cy="475488"/>
          </a:xfrm>
          <a:prstGeom prst="ellipse">
            <a:avLst/>
          </a:prstGeom>
          <a:solidFill>
            <a:srgbClr val="C8C6C4"/>
          </a:solidFill>
          <a:ln w="12700">
            <a:solidFill>
              <a:srgbClr val="C8C6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362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36192" y="1298448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ユーザーの質問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49040" y="18745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2066544"/>
            <a:ext cx="5943600" cy="594360"/>
          </a:xfrm>
          <a:prstGeom prst="rect">
            <a:avLst/>
          </a:prstGeom>
          <a:solidFill>
            <a:srgbClr val="EFF6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2130552"/>
            <a:ext cx="475488" cy="475488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21305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36192" y="2066544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 で関連情報を「検索」する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2157984"/>
            <a:ext cx="822960" cy="3840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215798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49040" y="26426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2834640"/>
            <a:ext cx="5943600" cy="594360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0120" y="2898648"/>
            <a:ext cx="475488" cy="475488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2898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36192" y="283464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GPT-4 で検索結果をもとに「回答を生成」する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63640" y="2926080"/>
            <a:ext cx="82296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29260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49040" y="341071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14400" y="3602736"/>
            <a:ext cx="5943600" cy="594360"/>
          </a:xfrm>
          <a:prstGeom prst="rect">
            <a:avLst/>
          </a:prstGeom>
          <a:solidFill>
            <a:srgbClr val="F3F3F3"/>
          </a:solidFill>
          <a:ln w="19050">
            <a:solidFill>
              <a:srgbClr val="C8C6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" y="3666744"/>
            <a:ext cx="475488" cy="475488"/>
          </a:xfrm>
          <a:prstGeom prst="ellipse">
            <a:avLst/>
          </a:prstGeom>
          <a:solidFill>
            <a:srgbClr val="C8C6C4"/>
          </a:solidFill>
          <a:ln w="12700">
            <a:solidFill>
              <a:srgbClr val="C8C6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36667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36192" y="3602736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根拠付きの回答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269480" y="2057400"/>
            <a:ext cx="1600200" cy="658368"/>
          </a:xfrm>
          <a:prstGeom prst="rect">
            <a:avLst/>
          </a:prstGeom>
          <a:solidFill>
            <a:srgbClr val="FFF4CE"/>
          </a:solidFill>
          <a:ln w="12700">
            <a:solidFill>
              <a:srgbClr val="F0BC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9480" y="205740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 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詳しく学習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8F4FE"/>
          </a:solidFill>
          <a:ln w="12700">
            <a:solidFill>
              <a:srgbClr val="E8F4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8229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製品の3つの時代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686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機能が「重層的」に見える理由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0"/>
          </a:xfrm>
          <a:prstGeom prst="line">
            <a:avLst/>
          </a:prstGeom>
          <a:noFill/>
          <a:ln w="19050">
            <a:solidFill>
              <a:srgbClr val="C8C6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344168"/>
            <a:ext cx="329184" cy="329184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70992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2015年〜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075688"/>
            <a:ext cx="2651760" cy="2103120"/>
          </a:xfrm>
          <a:prstGeom prst="rect">
            <a:avLst/>
          </a:prstGeom>
          <a:solidFill>
            <a:srgbClr val="EFF6FF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075688"/>
            <a:ext cx="265176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148840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クラシック全文検索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2624328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BM25スコアリング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クエリ構文（simple / full）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フィルター・ファセット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スコアリングプロファイル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1344168"/>
            <a:ext cx="329184" cy="329184"/>
          </a:xfrm>
          <a:prstGeom prst="ellipse">
            <a:avLst/>
          </a:prstGeom>
          <a:solidFill>
            <a:srgbClr val="005BA1"/>
          </a:solidFill>
          <a:ln w="12700">
            <a:solidFill>
              <a:srgbClr val="005B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70992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2019年〜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46120" y="2075688"/>
            <a:ext cx="2651760" cy="2103120"/>
          </a:xfrm>
          <a:prstGeom prst="rect">
            <a:avLst/>
          </a:prstGeom>
          <a:solidFill>
            <a:srgbClr val="EFF6FF"/>
          </a:solidFill>
          <a:ln w="19050">
            <a:solidFill>
              <a:srgbClr val="005BA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2075688"/>
            <a:ext cx="2651760" cy="73152"/>
          </a:xfrm>
          <a:prstGeom prst="rect">
            <a:avLst/>
          </a:prstGeom>
          <a:solidFill>
            <a:srgbClr val="005BA1"/>
          </a:solidFill>
          <a:ln w="12700">
            <a:solidFill>
              <a:srgbClr val="005B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9272" y="2148840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B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Enrichment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2624328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認知スキルパイプライン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OCR・翻訳・エンティティ認識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ナレッジストア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0" y="1344168"/>
            <a:ext cx="329184" cy="329184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70992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2023年〜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2075688"/>
            <a:ext cx="2651760" cy="2103120"/>
          </a:xfrm>
          <a:prstGeom prst="rect">
            <a:avLst/>
          </a:prstGeom>
          <a:solidFill>
            <a:srgbClr val="EFF6FF"/>
          </a:solidFill>
          <a:ln w="19050">
            <a:solidFill>
              <a:srgbClr val="0078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2075688"/>
            <a:ext cx="265176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91072" y="2148840"/>
            <a:ext cx="2505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ベクター・セマンティック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2624328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ベクター検索（HNSW）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ハイブリッド検索（RRF）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セマンティックランキング</a:t>
            </a:r>
            <a:endParaRPr lang="en-US" sz="1100" dirty="0"/>
          </a:p>
          <a:p>
            <a:pPr algn="l"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RAGパターン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315968"/>
            <a:ext cx="8503920" cy="658368"/>
          </a:xfrm>
          <a:prstGeom prst="rect">
            <a:avLst/>
          </a:prstGeom>
          <a:solidFill>
            <a:srgbClr val="E8F4F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31596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「これは古いやり方か、新しいやり方か？」と意識しながら学ぶと整理しやすい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A6B"/>
          </a:solidFill>
          <a:ln w="12700">
            <a:solidFill>
              <a:srgbClr val="00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アクションプラン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8686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0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今週やること・確認すること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4160520" cy="3840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8016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ハンズオン（1.5時間）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64208"/>
            <a:ext cx="4160520" cy="2377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" y="1801368"/>
            <a:ext cx="274320" cy="27432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801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8096" y="1773936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Portal で AI Search サービスを作成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（Free または Basic ティア）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2336" y="2560320"/>
            <a:ext cx="274320" cy="27432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8096" y="2532888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各ブレードを開き 1 文でメモする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（Indexes / Indexers / Data Sources /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Skillsets / Scale / Keys / Networking）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02336" y="3319272"/>
            <a:ext cx="274320" cy="27432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3319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" y="329184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データフロー図を手描きする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（正確でなくてOK）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1280160"/>
            <a:ext cx="4160520" cy="384048"/>
          </a:xfrm>
          <a:prstGeom prst="rect">
            <a:avLst/>
          </a:prstGeom>
          <a:solidFill>
            <a:srgbClr val="005BA1"/>
          </a:solidFill>
          <a:ln w="12700">
            <a:solidFill>
              <a:srgbClr val="005B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28016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自己チェック（週末に試す）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1664208"/>
            <a:ext cx="4160520" cy="2377440"/>
          </a:xfrm>
          <a:prstGeom prst="rect">
            <a:avLst/>
          </a:prstGeom>
          <a:solidFill>
            <a:srgbClr val="EFF6FF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80136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120640" y="18013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転置インデックスを図なしで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口頭説明できるか？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235000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20640" y="23500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 が元データを保存しない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理由を言えるか？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00600" y="289864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20640" y="28986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フィルター（完全一致）と検索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（関連度ランキング）の違いを例で説明できるか？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344728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20640" y="34472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エコシステムの中で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 はどの層に位置するか？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187952"/>
            <a:ext cx="8595360" cy="658368"/>
          </a:xfrm>
          <a:prstGeom prst="rect">
            <a:avLst/>
          </a:prstGeom>
          <a:solidFill>
            <a:srgbClr val="FFF4CE"/>
          </a:solidFill>
          <a:ln w="12700">
            <a:solidFill>
              <a:srgbClr val="F0BC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187952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5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詰まる場所がまだ理解できていない場所  —  遠慮なく質問してください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AI Search 入門 Week 1</dc:title>
  <dc:subject>PptxGenJS Presentation</dc:subject>
  <dc:creator>PptxGenJS</dc:creator>
  <cp:lastModifiedBy>PptxGenJS</cp:lastModifiedBy>
  <cp:revision>1</cp:revision>
  <dcterms:created xsi:type="dcterms:W3CDTF">2026-06-09T00:39:41Z</dcterms:created>
  <dcterms:modified xsi:type="dcterms:W3CDTF">2026-06-09T00:39:41Z</dcterms:modified>
</cp:coreProperties>
</file>